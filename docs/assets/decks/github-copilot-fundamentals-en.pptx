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none. Do not open Copilot on this slide.
Expected observation: the room sees the duration, the section split, and the independence notice before anything else happens.
Safety note: read the independence notice aloud. State that the practice fixture is synthetic classroom material authored for this workshop, that it validates written content requests only, and that nothing shown today is customer material.
Fallback: if the projector or the deck fails, the same agenda, schedule, and notice are on the workshop site home page and can be read from a laptop.
Transition: say that the first question is always what this tool actually does, then move to S02.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none yet. This slide is spoken, so that the first live prompt lands on prepared context rather than on an empty editor.
Expected observation: at least one person in the room expects autocomplete and nothing more. Name that expectation now so that S04 can correct it.
Safety note: say plainly that a suggestion is a draft, that it can be confidently wrong, and that accountability for kept code does not move.
Fallback: none needed. No tool is used on this slide.
Transition: say that the drafting happens on three different surfaces, then move to S03.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none. Point at the prepared comparison image rather than generating anything here.
Expected observation: the room can state one job that each surface is best at. That is the whole target for this slide.
Safety note: do not present the agent surface as a stronger version of chat. It is a wider blast radius, so it carries a heavier review duty.
Fallback: if the prepared image is missing, draw the three surfaces on the whiteboard as three boxes with one job written under each.
Transition: say that most disappointment with these tools comes from the wrong expectation rather than the wrong surface, then move to S04.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none. Ask the room which of the six they hear most often, and take two answers only.
Expected observation: items three and six produce the most disagreement. Let that disagreement stand, because S08, S12, and S20 settle it with real test output rather than with assertion.
Safety note: item three is the one that causes real defects. Say that the review duty taught in section 5 exists because of it.
Fallback: none needed. No tool is used on this slide.
Transition: say that the rest of the session is evidence rather than opinion, then move to S05. Under time pressure, drop items five and six here. That is the fourth item in the published cut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none. Show the three open files and the green baseline test output captured before the room arrived.
Expected observation: the observed baseline is 24 cases, 24 passed, exit code 0. Say that this is observed on the prepared machine and is not a guarantee for any other machine.
Safety note: do not run an install, a sign-in, or a first-run setup in front of the room. Setup is pre-work, and this section teaches use rather than setup.
Fallback: if the editor will not start, present the rest of section 2 from the prepared screenshots and announce aloud that they are recorded.
Transition: say that the fixture is useless to the tool until the tool can see it, then move to S06.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attach the two files, then ask, Explain what this module returns and what a success result guarantees. Do not edit any file.
Expected observation: a good answer names the success or error union, the trimming of free text, and the fact that omitted optional fields stay undefined. Reject any answer claiming the validator fills in a default detail level or output length, because it does not.
Safety note: attaching more files is not attaching better context. Attach only what the question needs, and never attach an environment file.
Fallback: if the response is unusable, read the documentation comment at the top of the validator aloud. It states the same contract.
Transition: say that the room will now do the same thing with their own hands, then move to S07.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Explain what validateGenerateRequest returns and what a success result guarantees. Do not edit any file.
Expected observation: the explanation names the success or error union. The accepted completion asserts the trimmed title, and the focused run stays at 24 cases, 24 passed, exit code 0.
Safety note: read the suggested assertion out loud before accepting it. An assertion that compiles is not an assertion that is correct, and a wrong assertion that passes is worse than one that fails.
Fallback: if Copilot is unavailable, project the prepared V01 image, announce aloud that it is recorded rather than live, and run the paper half of the activity unchanged.
Transition: say that accepting is the risky half, then move to S08.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none. This slide inspects what S07 already produced.
Expected observation: at least one learner accepted a suggestion without reading it. Ask for a show of hands and treat it as normal rather than as something to be embarrassed about.
Safety note: say that the observed counts depend on the prepared fixture configuration, and that a learner who sees a different number has not failed the activity.
Fallback: if no live suggestion was produced, inspect the prepared V01 image and label it aloud as recorded.
Transition: say that the next section moves from one assertion to a whole day of ordinary development work, then move to S09.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Walk through the validation order in this module and tell me which check runs first for a whitespace-only category. Do not edit any file.
Expected observation: on the committed baseline, step 2 runs before step 3, so a whitespace-only category is reported as a missing required field rather than as an unsupported enum value. Hold that fact. S10 and S11 depend on it.
Safety note: the fixture models a request for a short piece of written content and nothing else. Do not let a question pull the demonstration toward a regulated or safety-critical domain.
Fallback: if the response is unusable, read the numbered validation order from the documentation comment in the validator.
Transition: say that the fixed order is exactly what makes the next failure readable, then move to S10.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Here is the failing output and the validator. Which single change to this file would explain all five failures? Propose only, do not edit.
Expected observation: the five failing cases observed on the prepared machine are, rejects a whitespace-only title as a missing required field, rejects a whitespace-only category as a missing required field, rejects a whitespace-only summary as a missing required field, reports the required-field error before the enum error, and distinguishes a blank category from an unknown category.
Safety note: this is a deliberately seeded exercise fault, not a defect in any real system. Say so aloud before anyone photographs the screen.
Fallback: if the live run cannot be produced, show the prepared V04 image and the recorded failing output, and announce both aloud as recorded.
Transition: this slide also carries the guard refactor demonstration, so that a shortened Activity B still covers refactoring. Move to S11.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Restore whitespace rejection in the private guard. Change nothing else. Then, as a separate step, rename the private guards for readability without changing predicates, error strings, or validation order.
Expected observation: after the repair the run returns to 24 cases, 24 passed, exit code 0, and the case count is unchanged from baseline. Teach the actual asymmetry and do not generalize it: under the seeded fault a whitespace-only title is wrongly accepted with the title normalized to an empty string, but a whitespace-only category is not silently accepted. It reaches the enum check and reports Unsupported category followed by the blank value, rather than the required-field error. A blanket claim that blank values pass under this fault is wrong.
Safety note: a suite made green by relaxing an assertion has failed this activity even though the count looks right. Say this before the room starts.
Fallback: if Copilot is unavailable, the facilitator applies the one-line repair by hand and the room performs the prediction and the diff review unchanged. If the live run fails, use the recorded failing and passing output and announce it aloud as recorded.
Transition: say that the fix is only half the work and that the other half is being able to explain it, then move to S12.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Summarize the change I just made, then regenerate the documentation comment for the guard so that it matches the current behaviour.
Expected observation: the summary should mention only the validator module. If it mentions the types module or the test file, the room has just watched a confident and wrong summary, which is the most useful thing that can happen on this slide.
Safety note: a change summary is evidence only after it has been checked against the diff. Never paste one into a pull request unread.
Fallback: if no summary can be generated, read the diff aloud and have the room narrate it instead. The learning target is the checking, not the generating.
Transition: say that every good result so far came from a specific request, then move to S13.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none yet. Read the four parts aloud and point at the acceptance tests, because that is the part almost everyone omits.
Expected observation: the room recognizes that the first three parts describe intent while only the fourth one can fail. A prompt without acceptance tests cannot be reviewed objectively.
Safety note: keep the limit and the error text exactly as written. They are software literals, and translating or re-punctuating them breaks the exercise.
Fallback: none needed. No tool is used on this slide.
Transition: say that the context part is where most prompts quietly fail, then move to S14.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run the weak version first, Fix validation, and let the room watch it guess. Then run the specific version from S13 against the same files.
Expected observation: the weak prompt produces a plausible change to something nobody asked about. The specific prompt produces something that can be accepted or rejected on evidence.
Safety note: never attach an environment file, a credential file, or customer material as context. Attach only the three fixture files.
Fallback: if only one prompt can be run, run the weak one. The contrast survives, because the failure is the teaching moment.
Transition: say that the room now writes its own, then move to S15.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learners write their own. The proposal-only constraint is mandatory, so every prompt must forbid file edits and command execution.
Expected observation: most first drafts carry goal and context but omit acceptance tests. That omission is the finding, not a failure.
Safety note: nothing is executed during this activity. A prompt that would edit a file or run a command has already broken the brief.
Fallback: if Copilot is unavailable, the whole activity still runs. It is written and scored on paper and needs no tool at all.
Transition: partner scoring is the first item in the published cut order. If the section is running long, drop it and move straight to S16.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correct the ambiguous version live. Replace the phrase with the code-unit wording from S13 and show that only the second version is reviewable.
Expected observation: the room sees that the second attempt succeeded because the request changed, not because the tool improved.
Safety note: do not describe this as a limit on visible characters or on graphemes. It is a code-unit limit, and the boundary tests use ASCII only.
Fallback: none needed. This correction can be made verbally against the projected text.
Transition: say that the room now has a reviewable specification and needs a surface wide enough to apply it, then move to S17.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submit the same title-limit request to the ask surface and to the agent surface, then put the two plans side by side.
Expected observation: the ask surface describes the change, the agent surface proposes to make it. The difference in review duty is visible before any file is touched.
Safety note: a wider surface is not a better surface. It is a larger blast radius, so it needs a heavier review.
Fallback: if only one surface responds, show the prepared V05 image for the comparison and label it aloud as recorded.
Transition: this plan comparison is the third item in the published cut order. If time is short, drop it and go straight to S18.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none new. Read the plan the agent produced on S17 and walk the room through the approval decision line by line.
Expected observation: the plan names the three permitted files. If it names a fourth, decline it in front of the room. A declined plan is a successful demonstration of this slide, not a broken demo.
Safety note: approval is the control point. Once a tool run is approved, review moves from cheap to expensive.
Fallback: if no live plan exists, review the prepared V06 image and announce aloud that it is recorded.
Transition: say that the plan is now reviewed and can be applied, then move to S19.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carried verbatim from the approved workshop prompt:
In this synthetic workshop fixture, add a maximum trimmed title length of 80 JavaScript UTF-16 code units. Modify only types.ts, validateGenerateRequest.ts, and validateGenerateRequest.test.ts in lib/scenario-engine/. Export MAX_TITLE_LENGTH from types.ts. Preserve existing enums, public signatures, errors, and validation order. Put the new check after the enum checks. Use the error "Title must be at most 80 code units". Preserve every existing test and do not weaken, delete, or rewrite any existing assertion. Add tests for 80 units, 81 units, and a padded 80-unit title, and write those expected boundaries as literal numbers rather than referring to MAX_TITLE_LENGTH, so the tests fail if the constant is wrong. Do not install packages, access the network, read environment files, or generate content unrelated to this fixture. Run the prepared focused tests and typecheck. Report the diff and the actual results.
Expected observation: with the three boundary cases added and the rule not yet implemented, the observed result on the prepared machine was 27 cases, 26 passed, 1 failed, exit code 1. After the rule was implemented it was 27 cases, 27 passed, exit code 0. The 24 baseline cases were unchanged in both states.
Safety note: the two clauses about preserving every existing test and about writing the boundaries as literal numbers are load-bearing. Do not shorten the prompt by removing them. Without them an agent can derive its expectations from the new constant, the suite then passes for any limit value, and the review evidence on S20 collapses.
Fallback: if the agent run cannot be completed live, show the prepared V03 image and the recorded before and after output, and announce aloud that they are recorded.
Transition: say that the run is finished but the work is not, then move to S20.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none. This is human review of what S19 produced, and the review is the point of the slide.
Expected observation: the diff touches exactly the three permitted files, the baseline cases still pass, and the new cases use literal numbers. Ask the room to name one thing in the generated diff worth changing, and take two answers.
Safety note: this demonstration is never cut, at any level of overrun. It is the only place where the responsible-review objective is demonstrated against real output. Cut elsewhere first.
Fallback: if nothing was generated live, review the recorded diff and the recorded test output, announce aloud that they are recorded, and label them as recorded on screen. The review discussion runs unchanged.
Transition: say that recovery here is a reset script rather than an argument with the tool, then move to S21.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none. Hand out or open the exit ticket form and give the room the full two minutes to write.
Expected observation: each learner records one bounded next-day task and the verification step for it. A task with no verification goes back, because the verification is the objective.
Safety note: collect exit tickets on the prepared form so that responses are retained. Do not collect them on a shared screen where other people's answers are visible.
Fallback: if the form is unavailable, paper index cards work and are collected at the door.
Transition: move to S22 and take questions with the resources already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to use: none.
Expected observation: questions cluster on entitlement, on private code, and on review duty. Answer the first two by pointing at the resources page rather than by speculating.
Safety note: if a question asks about using this with customer or regulated material, say that it is out of scope for this session and that it is a data-handling decision owned elsewhere. Do not improvise a policy answer.
Fallback: if the session is running over, close on the exit ticket sentence and take remaining questions after the scheduled end.
Transition: end here. The session is over at minute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600" b="1" dirty="0">
                <a:solidFill>
                  <a:srgbClr val="202428"/>
                </a:solidFill>
                <a:latin typeface="Aptos Display" pitchFamily="34" charset="0"/>
                <a:ea typeface="Aptos Display" pitchFamily="34" charset="-122"/>
                <a:cs typeface="Aptos Display" pitchFamily="34" charset="-120"/>
              </a:rPr>
              <a:t>GitHub Copilot Fundamentals</a:t>
            </a:r>
            <a:endParaRPr lang="en-US" sz="3600" dirty="0"/>
          </a:p>
        </p:txBody>
      </p:sp>
      <p:sp>
        <p:nvSpPr>
          <p:cNvPr id="3" name="Text 1"/>
          <p:cNvSpPr/>
          <p:nvPr/>
        </p:nvSpPr>
        <p:spPr>
          <a:xfrm>
            <a:off x="548640" y="1645920"/>
            <a:ext cx="11091672" cy="237744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Profile 1, presenter-led, 90 minutes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Six sections: 15, 15, 25, 15, 15, and 5 minutes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Every demonstration runs against one small synthetic content-request validator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No customer code, no production system, no regulated domain</a:t>
            </a:r>
            <a:endParaRPr lang="en-US" sz="2400" dirty="0"/>
          </a:p>
        </p:txBody>
      </p:sp>
      <p:sp>
        <p:nvSpPr>
          <p:cNvPr id="4" name="Text 2"/>
          <p:cNvSpPr/>
          <p:nvPr/>
        </p:nvSpPr>
        <p:spPr>
          <a:xfrm>
            <a:off x="548640" y="4297680"/>
            <a:ext cx="11091672" cy="1554480"/>
          </a:xfrm>
          <a:prstGeom prst="rect">
            <a:avLst/>
          </a:prstGeom>
          <a:noFill/>
          <a:ln/>
        </p:spPr>
        <p:txBody>
          <a:bodyPr wrap="square" rtlCol="0" anchor="t"/>
          <a:lstStyle/>
          <a:p>
            <a:pPr indent="0" marL="0">
              <a:buNone/>
            </a:pPr>
            <a:r>
              <a:rPr lang="en-US" sz="1400" b="1" dirty="0">
                <a:solidFill>
                  <a:srgbClr val="202428"/>
                </a:solidFill>
                <a:latin typeface="Aptos" pitchFamily="34" charset="0"/>
                <a:ea typeface="Aptos" pitchFamily="34" charset="-122"/>
                <a:cs typeface="Aptos" pitchFamily="34" charset="-120"/>
              </a:rPr>
              <a:t>Independent educational resource</a:t>
            </a:r>
            <a:endParaRPr lang="en-US" sz="1400" dirty="0"/>
          </a:p>
          <a:p>
            <a:pPr indent="0" marL="0">
              <a:buNone/>
            </a:pPr>
            <a:r>
              <a:rPr lang="en-US" sz="1400" dirty="0">
                <a:solidFill>
                  <a:srgbClr val="202428"/>
                </a:solidFill>
                <a:latin typeface="Aptos" pitchFamily="34" charset="0"/>
                <a:ea typeface="Aptos" pitchFamily="34" charset="-122"/>
                <a:cs typeface="Aptos" pitchFamily="34" charset="-120"/>
              </a:rPr>
              <a:t>This workshop is an independent educational resource. It is not affiliated with, endorsed by, or sponsored by GitHub or Microsoft. All product names and trademarks are the property of their respective owners.</a:t>
            </a:r>
            <a:endParaRPr lang="en-US" sz="1400" dirty="0"/>
          </a:p>
        </p:txBody>
      </p:sp>
      <p:sp>
        <p:nvSpPr>
          <p:cNvPr id="5" name="Text 3"/>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S01 | 00-03 min | Section 1 | 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What Copilot Actually Does</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Suggests code inline, while you type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Answers questions about code you did not write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Drafts tests, documentation, and change summaries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Plans and applies edits across several files, which you review before keeping</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It drafts. You decide what is kept.</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S02 | 03-07 min | Section 1 | EN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Chat, Completions, and Agent Mode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Completions: inline and fastest. Best for the next line or the next assertion.</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Chat: a question and an answer. Best for explanation and for proposals.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Agent Mode: a plan, then edits across several files, then a review you perform.</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Today you choose a surface three times: to explain, to complete one assertion, and to make a three-file change.</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S03 | 07-11 min | Section 1 | EN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Six Misconceptions</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1. It is just autocomplete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2. It replaces developers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3. Generated code is always correct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4. It is only useful for writing code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5. You need to be an AI expert to benefit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6. It removes the need to understand your own code</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S04 | 11-15 min | Section 1 | EN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Ready to Work</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On screen: a prepared local TypeScript fixture in the editor, not a browser application</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Three files under lib/scenario-engine/: types.ts, validateGenerateRequest.ts, validateGenerateRequest.test.ts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Sign-in and dependencies are verified before the session, never during it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Nothing is installed while you watch</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S05 | 15-18 min | Section 2 | EN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Give the Right Context</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Attach validateGenerateRequest.ts and types.ts before asking anything</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The validator takes unknown input and returns a success or error union</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Free text is trimmed. Enum membership is exact and case-sensitive.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Omitted optional fields stay undefined. The validator never substitutes a default.</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S06 | 18-22 min | Section 2 | EN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Activity A: Explain and Complete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Minute 1: ask chat to explain validateGenerateRequest, with no edits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2 to 4: accept one inline completion for a normalized-title assertion, then read it back</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5 to 6: on paper, write the one question you would ask about the result type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Compare your question with the person beside you</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S07 | 22-28 min | Section 2 | EN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Inspect Before Accepting</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Read the completed assertion out loud before you accept it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 suggestion that compiles is not a suggestion that is correct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Baseline observed on the prepared machine: 24 cases, 24 passed, exit code 0</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Counts are observed, not guaranteed. A different count is not a failure.</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S08 | 28-30 min | Section 2 | EN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Follow One Validation Request</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A synthetic request object enters validateGenerateRequest in validateGenerateRequest.ts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Step 1 rejects anything that is not a plain object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Step 2 rejects blank required fields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Step 3 checks the required category against its enum</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Step 5 trims free text and returns success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No user interface, no network, no provider, no environment file</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S09 | 30-34 min | Section 3 | EN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From Failure to Evidence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The private guard is seeded with a length-only check, so trimming is lost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Observed under the fault: 24 cases, 19 passed, 5 failed, exit code 1</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Read the five failing names before changing a single line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Then rename the private guards for readability, without touching predicates, messages, or order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No test in validateGenerateRequest.test.ts is weakened to make the suite green</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S10 | 34-39 min | Section 3 | EN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Activity B: Fix and Verify</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Before the run: write down how many of the 24 cases you expect to fail</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1 to 2: reproduce the fault and read the five failing names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3 to 6: locate the private guard in validateGenerateRequest.ts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7 to 9: restore whitespace rejection, then rerun</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Minutes 10 to 12: refactor the guard for readability, rerun, then check the change summary against the diff</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Never reach green by weakening an assertion in validateGenerateRequest.test.ts</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S11 | 39-51 min | Section 3 | EN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Explain the Change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Ask for a change summary, then check every claim in it against the diff</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 summary naming a file you did not touch is wrong, however fluent it reads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True here: trimming restored, private guards renamed, behaviour unchanged</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Regenerate the documentation comment last, once the behaviour has settled</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S12 | 51-55 min | Section 3 | EN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A Prompt With a Testable Outcome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Four parts: goal, context, constraints, acceptance tests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Goal: reject titles longer than the limit, measured after trimming</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Context: the three named files and the existing validation order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Constraints: measure UTF-16 code units, not visible characters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Acceptance tests: 80 units accepted, 81 units rejected, a padded 80-unit title accepted</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S13 | 55-59 min | Section 4 | EN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Context Is Evidence</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Fix validation is not a prompt. It names no file, no rule, and no test.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Attach the validator, the types, and the existing tests. Nothing else.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Attaching more is not attaching better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The evidence you attach is the evidence a reviewer can check</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S14 | 59-62 min | Section 4 | EN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Activity C: Specify the Title Limit</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Write a prompt that asks for a proposal only. No edits. No commands.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It must name MAX_TITLE_LENGTH = 80, placement after the enum checks, and the exact error "Title must be at most 80 code units"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It must name the three permitted files and the three boundary cases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Then score a partner prompt against the four-part rubric</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It passes when your partner can restate the intended behaviour from the prompt alone</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S15 | 62-68 min | Section 4 | EN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Iterate With a Reason</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The phrase 80 characters is ambiguous. Bytes, code points, and visible characters all differ.</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Say UTF-16 code units, measured after trimming</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State plainly that this counts code units, not visible characters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Accented and emoji input is therefore out of scope for this boundary test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Iterate because the prompt was ambiguous, not because the answer was disappointing</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S16 | 68-70 min | Section 4 | EN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Ask, Edit, and Agent</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Ask: a question, an answer, no file changes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Edit: a scoped change to files you chose yourself</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Agent: a plan, then edits across files, then a review you must perform</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Choose the smallest surface that can do the job</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Compare the plans on screen, then pick one and say why</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S17 | 70-73 min | Section 5 | EN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Review the Plan and Permissions</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Read the plan before approving it: which files, in what order, with what error text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Permitted scope is three files. Anything outside them is a stop, not a warning.</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No package installs, no network access, no environment files, no regulated-domain content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Approve a tool run only when the plan matches what you actually asked for</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S18 | 73-76 min | Section 5 | EN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Activity D: Implement the Title Limit</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Before the run, write down the two files you would inspect first and why</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Export MAX_TITLE_LENGTH = 80 from types.ts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Add the check after the enum checks in validateGenerateRequest.ts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Append exactly three boundary cases to validateGenerateRequest.test.ts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Exact error: "Title must be at most 80 code units"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Boundary expectations are literal numbers, never the new constant</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S19 | 76-81 min | Section 5 | EN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Review, Test, Recover</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Inspect the diff file by file. Three files, and no more.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Observed before implementation: 27 cases, 26 passed, 1 failed, exit code 1</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Observed after implementation: 27 cases, 27 passed, exit code 0</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The 24 baseline cases were unchanged in both states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Boundary expectations in validateGenerateRequest.test.ts are literal numbers, so a wrong constant still fails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Accept, reject, or revise. Recovery is a reset, not a rewrite.</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S20 | 81-85 min | Section 5 | EN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What You Take Away</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It drafts. You decide.</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Choose the surface: ask to understand, edit to change, agent to span files</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A prompt without acceptance tests is a wish</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The evidence is the diff and the actual test output, not the summary</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Exit ticket: name one bounded task for tomorrow and how you will verify it</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S21 | 85-87 min | Section 6 | EN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1091672" cy="914400"/>
          </a:xfrm>
          <a:prstGeom prst="rect">
            <a:avLst/>
          </a:prstGeom>
          <a:noFill/>
          <a:ln/>
        </p:spPr>
        <p:txBody>
          <a:bodyPr wrap="square" rtlCol="0" anchor="ctr"/>
          <a:lstStyle/>
          <a:p>
            <a:pPr indent="0" marL="0">
              <a:buNone/>
            </a:pPr>
            <a:r>
              <a:rPr lang="en-US" sz="3200" b="1" dirty="0">
                <a:solidFill>
                  <a:srgbClr val="202428"/>
                </a:solidFill>
                <a:latin typeface="Aptos Display" pitchFamily="34" charset="0"/>
                <a:ea typeface="Aptos Display" pitchFamily="34" charset="-122"/>
                <a:cs typeface="Aptos Display" pitchFamily="34" charset="-120"/>
              </a:rPr>
              <a:t>Next Steps and Questions</a:t>
            </a:r>
            <a:endParaRPr lang="en-US" sz="3200" dirty="0"/>
          </a:p>
        </p:txBody>
      </p:sp>
      <p:sp>
        <p:nvSpPr>
          <p:cNvPr id="3" name="Text 1"/>
          <p:cNvSpPr/>
          <p:nvPr/>
        </p:nvSpPr>
        <p:spPr>
          <a:xfrm>
            <a:off x="548640" y="1645920"/>
            <a:ext cx="11091672" cy="3840480"/>
          </a:xfrm>
          <a:prstGeom prst="rect">
            <a:avLst/>
          </a:prstGeom>
          <a:noFill/>
          <a:ln/>
        </p:spPr>
        <p:txBody>
          <a:bodyPr wrap="square" rtlCol="0" anchor="t"/>
          <a:lstStyle/>
          <a:p>
            <a:pPr indent="0" marL="0">
              <a:buNone/>
            </a:pPr>
            <a:r>
              <a:rPr lang="en-US" sz="2400" dirty="0">
                <a:solidFill>
                  <a:srgbClr val="202428"/>
                </a:solidFill>
                <a:latin typeface="Aptos" pitchFamily="34" charset="0"/>
                <a:ea typeface="Aptos" pitchFamily="34" charset="-122"/>
                <a:cs typeface="Aptos" pitchFamily="34" charset="-120"/>
              </a:rPr>
              <a:t>Take the exit ticket with you: one task, one verification, tomorrow</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The workshop site carries the schedule, every prompt, and the resources list</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Every page is available in English and in French</a:t>
            </a:r>
            <a:endParaRPr lang="en-US" sz="2400" dirty="0"/>
          </a:p>
          <a:p>
            <a:pPr indent="0" marL="0">
              <a:buNone/>
            </a:pPr>
            <a:r>
              <a:rPr lang="en-US" sz="2400" dirty="0">
                <a:solidFill>
                  <a:srgbClr val="202428"/>
                </a:solidFill>
                <a:latin typeface="Aptos" pitchFamily="34" charset="0"/>
                <a:ea typeface="Aptos" pitchFamily="34" charset="-122"/>
                <a:cs typeface="Aptos" pitchFamily="34" charset="-120"/>
              </a:rPr>
              <a:t>Questions</a:t>
            </a:r>
            <a:endParaRPr lang="en-US" sz="2400" dirty="0"/>
          </a:p>
        </p:txBody>
      </p:sp>
      <p:sp>
        <p:nvSpPr>
          <p:cNvPr id="4" name="Text 2"/>
          <p:cNvSpPr/>
          <p:nvPr/>
        </p:nvSpPr>
        <p:spPr>
          <a:xfrm>
            <a:off x="548640" y="6126480"/>
            <a:ext cx="11091672" cy="365760"/>
          </a:xfrm>
          <a:prstGeom prst="rect">
            <a:avLst/>
          </a:prstGeom>
          <a:noFill/>
          <a:ln/>
        </p:spPr>
        <p:txBody>
          <a:bodyPr wrap="square" rtlCol="0" anchor="ctr"/>
          <a:lstStyle/>
          <a:p>
            <a:pPr indent="0" marL="0">
              <a:buNone/>
            </a:pPr>
            <a:r>
              <a:rPr lang="en-US" sz="1300" dirty="0">
                <a:solidFill>
                  <a:srgbClr val="176B63"/>
                </a:solidFill>
                <a:latin typeface="Aptos" pitchFamily="34" charset="0"/>
                <a:ea typeface="Aptos" pitchFamily="34" charset="-122"/>
                <a:cs typeface="Aptos" pitchFamily="34" charset="-120"/>
              </a:rPr>
              <a:t>S22 | 87-90 min | Section 6 | EN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Independent educational resource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Fundamentals</dc:title>
  <dc:subject>Presenter-led 90-minute GitHub Copilot fundamentals workshop, English</dc:subject>
  <dc:creator>GitHub Copilot Fundamentals Workshop</dc:creator>
  <cp:lastModifiedBy>GitHub Copilot Fundamentals Workshop</cp:lastModifiedBy>
  <cp:revision>1</cp:revision>
  <dcterms:created xsi:type="dcterms:W3CDTF">2026-09-22T11:58:06Z</dcterms:created>
  <dcterms:modified xsi:type="dcterms:W3CDTF">2026-09-22T11:58:06Z</dcterms:modified>
</cp:coreProperties>
</file>