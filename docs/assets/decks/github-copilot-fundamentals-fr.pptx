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N'ouvrez pas Copilot sur cette diapositive.
Observation attendue : la salle voit la durée, la répartition des sections et l'avis d'indépendance avant toute autre chose.
Note de sécurité : lisez l'avis d'indépendance à voix haute. Précisez que le projet d'exercice est un matériel pédagogique synthétique rédigé pour cet atelier, qu'il ne valide que des demandes de contenu rédactionnel, et que rien de ce qui est montré aujourd'hui n'est un matériel client.
Solution de repli : si le projecteur ou le diaporama tombe en panne, le même ordre du jour, le même horaire et le même avis figurent sur la page d'accueil du site de l'atelier et peuvent être lus depuis un ordinateur portable.
Transition : dites que la première question est toujours de savoir ce que cet outil fait réellement, puis passez à S02.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pour l'instant. Cette diapositive est commentée à l'oral, afin que la première invite en direct s'applique à un contexte préparé plutôt qu'à un éditeur vide.
Observation attendue : au moins une personne dans la salle n'attend rien de plus qu'une autocomplétion. Nommez cette attente maintenant, pour que S04 puisse la corriger.
Note de sécurité : dites clairement qu'une suggestion est un brouillon, qu'elle peut être fausse avec assurance, et que la responsabilité du code conservé ne change pas de mains.
Solution de repli : aucune nécessaire. Aucun outil n'est utilisé sur cette diapositive.
Transition : dites que cette rédaction se fait sur trois surfaces différentes, puis passez à S03.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Montrez l'image de comparaison préparée plutôt que de générer quoi que ce soit ici.
Observation attendue : la salle sait énoncer une tâche pour laquelle chaque surface est la meilleure. C'est tout l'objectif de cette diapositive.
Note de sécurité : ne présentez pas la surface agent comme une version plus puissante du chat. Son périmètre d'impact est plus large, elle impose donc un devoir de relecture plus lourd.
Solution de repli : si l'image préparée est absente, dessinez les trois surfaces au tableau sous forme de trois cadres, avec une tâche inscrite sous chacun.
Transition : dites que la plupart des déceptions avec ces outils viennent d'une mauvaise attente plutôt que d'une mauvaise surface, puis passez à 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Demandez à la salle laquelle des six elle entend le plus souvent, et ne prenez que deux réponses.
Observation attendue : les points trois et six suscitent le plus de désaccord. Laissez ce désaccord ouvert, car S08, S12 et S20 le tranchent avec de vrais résultats de tests plutôt qu'avec des affirmations.
Note de sécurité : le point trois est celui qui provoque de vraies anomalies. Dites que le devoir de relecture enseigné en section 5 existe à cause de lui.
Solution de repli : aucune nécessaire. Aucun outil n'est utilisé sur cette diapositive.
Transition : dites que le reste de la séance repose sur des éléments de preuve plutôt que sur des opinions, puis passez à S05. Si le temps presse, supprimez ici les points cinq et six. C'est le quatrième élément de l'ordre des coupes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Montrez les trois fichiers ouverts et la sortie verte des tests de référence, relevée avant l'arrivée de la salle.
Observation attendue : la référence observée est de 24 cas, 24 réussites, code de sortie 0. Précisez que ce résultat est observé sur la machine préparée et qu'il ne constitue pas une garantie pour une autre machine.
Note de sécurité : ne lancez ni installation, ni connexion, ni configuration initiale devant la salle. La préparation relève du travail préalable, et cette section enseigne l'usage plutôt que l'installation.
Solution de repli : si l'éditeur refuse de démarrer, présentez le reste de la section 2 à partir des captures préparées et annoncez à voix haute qu'elles sont enregistrées.
Transition : dites que ce projet est inutile à l'outil tant que l'outil ne peut pas le voir, puis passez à S06.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joignez les deux fichiers, puis demandez : Explique ce que ce module renvoie et ce que garantit un résultat de succès. Ne modifie aucun fichier.
Observation attendue : une bonne réponse nomme l'union succès ou erreur, la suppression des espaces autour du texte libre, et le fait que les champs facultatifs omis restent undefined. Refusez toute réponse affirmant que le validateur renseigne un niveau de détail ou une longueur de sortie par défaut, car ce n'est pas le cas.
Note de sécurité : joindre plus de fichiers n'est pas joindre un meilleur contexte. Ne joignez que ce dont la question a besoin, et ne joignez jamais un fichier d'environnement.
Solution de repli : si la réponse est inexploitable, lisez à voix haute le commentaire de documentation en tête du validateur. Il énonce le même contrat.
Transition : dites que la salle va maintenant faire la même chose de ses propres mains, puis passez à S07.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Explique ce que renvoie validateGenerateRequest et ce que garantit un résultat de succès. Ne modifie aucun fichier.
Observation attendue : l'explication nomme l'union succès ou erreur. La complétion acceptée affirme le titre débarrassé de ses espaces, et l'exécution ciblée reste à 24 cas, 24 réussites, code de sortie 0.
Note de sécurité : lisez l'assertion proposée à voix haute avant de l'accepter. Une assertion qui compile n'est pas une assertion correcte, et une assertion fausse qui réussit est pire qu'une assertion qui échoue.
Solution de repli : si Copilot est indisponible, projetez l'image V01 préparée, annoncez à voix haute qu'elle est enregistrée et non en direct, puis menez la partie sur papier sans changement.
Transition : dites que l'acceptation est la moitié risquée du travail, puis passez à 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Cette diapositive inspecte ce que S07 a déjà produit.
Observation attendue : au moins un participant a accepté une suggestion sans la lire. Demandez un vote à main levée et traitez-le comme normal plutôt que comme une faute.
Note de sécurité : précisez que les décomptes observés dépendent de la configuration de tests du projet d'exercice, et qu'un participant qui voit un autre nombre n'a pas raté l'activité.
Solution de repli : si aucune suggestion en direct n'a été produite, inspectez l'image V01 préparée et annoncez à voix haute qu'elle est enregistrée.
Transition : dites que la section suivante passe d'une seule assertion à une journée entière de travail de développement ordinaire, puis passez à S09.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Parcours l'ordre de validation de ce module et indique quel contrôle s'exécute en premier pour une catégorie composée uniquement d'espaces. Ne modifie aucun fichier.
Observation attendue : sur la référence validée, l'étape 2 s'exécute avant l'étape 3, si bien qu'une catégorie composée uniquement d'espaces est signalée comme un champ obligatoire manquant plutôt que comme une valeur d'énumération non prise en charge. Retenez ce fait. S10 et S11 en dépendent.
Note de sécurité : ce projet d'exercice modélise une demande de court contenu rédactionnel et rien d'autre. Ne laissez pas une question entraîner la démonstration vers un domaine réglementé ou critique pour la sécurité.
Solution de repli : si la réponse est inexploitable, lisez l'ordre de validation numéroté dans le commentaire de documentation du validateur.
Transition : dites que cet ordre fixe est précisément ce qui rend l'échec suivant lisible, puis passez à 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Voici la sortie en échec et le validateur. Quelle modification unique de ce fichier expliquerait les cinq échecs ? Propose seulement, ne modifie rien.
Observation attendue : les cinq cas en échec observés sur la machine préparée sont les suivants. Rejette un titre composé uniquement d'espaces comme champ obligatoire manquant. Rejette une catégorie composée uniquement d'espaces comme champ obligatoire manquant. Rejette un résumé composé uniquement d'espaces comme champ obligatoire manquant. Signale l'erreur de champ obligatoire avant l'erreur d'énumération. Distingue une catégorie vide d'une catégorie inconnue.
Note de sécurité : il s'agit d'une anomalie d'exercice introduite volontairement, et non d'un défaut d'un système réel. Dites-le à voix haute avant que quiconque photographie l'écran.
Solution de repli : si l'exécution en direct est impossible, montrez l'image V04 préparée et la sortie en échec enregistrée, et annoncez à voix haute que les deux sont enregistrées.
Transition : cette diapositive porte aussi la démonstration du remaniement des gardes, afin qu'une activité B écourtée couvre encore le remaniement. Passez à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Rétablis le rejet des valeurs composées uniquement d'espaces dans la garde privée. Ne change rien d'autre. Ensuite, dans une étape distincte, renomme les gardes privées pour la lisibilité, sans changer les prédicats, les messages d'erreur ni l'ordre de validation.
Observation attendue : après la correction, l'exécution revient à 24 cas, 24 réussites, code de sortie 0, et le nombre de cas est inchangé par rapport à la référence. Enseignez l'asymétrie réelle sans la généraliser. Sous l'anomalie introduite, un titre composé uniquement d'espaces est accepté à tort, le titre étant normalisé en chaîne vide. En revanche, une catégorie composée uniquement d'espaces n'est pas acceptée silencieusement : elle atteint le contrôle d'énumération et produit l'erreur Unsupported category suivie de la valeur vide, plutôt que l'erreur de champ obligatoire. Affirmer globalement que les valeurs vides passent sous cette anomalie est faux.
Note de sécurité : une suite rendue verte en relâchant une assertion a échoué à cette activité, même si le décompte semble correct. Dites-le avant que la salle ne commence.
Solution de repli : si Copilot est indisponible, l'animateur applique la correction d'une ligne à la main et la salle réalise la prédiction et la relecture du diff sans changement. Si l'exécution en direct échoue, utilisez les sorties enregistrées en échec puis en réussite, et annoncez à voix haute qu'elles sont enregistrées.
Transition : dites que la correction n'est que la moitié du travail et que l'autre moitié consiste à savoir l'expliquer, puis passez à S12.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Résume la modification que je viens de faire, puis régénère le commentaire de documentation de la garde pour qu'il corresponde au comportement actuel.
Observation attendue : le résumé ne devrait mentionner que le module du validateur. S'il mentionne le module des types ou le fichier de tests, la salle vient d'assister à un résumé assuré et faux, ce qui est la chose la plus utile qui puisse arriver sur cette diapositive.
Note de sécurité : un résumé des modifications ne devient un élément de preuve qu'après vérification face au diff. Ne le collez jamais dans une demande de tirage sans l'avoir lu.
Solution de repli : si aucun résumé ne peut être généré, lisez le diff à voix haute et faites-le commenter par la salle. L'objectif d'apprentissage est la vérification, pas la génération.
Transition : dites que tous les bons résultats obtenus jusqu'ici viennent d'une demande précise, puis passez à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pour l'instant. Lisez les quatre parties à voix haute et désignez les tests d'acceptation, car c'est la partie que presque tout le monde omet.
Observation attendue : la salle reconnaît que les trois premières parties décrivent une intention alors que seule la quatrième peut échouer. Une invite sans tests d'acceptation ne peut pas être relue objectivement.
Note de sécurité : conservez la limite et le texte d'erreur exactement tels qu'ils sont écrits. Ce sont des littéraux logiciels, et les traduire ou les reponctuer casse l'exercice.
Solution de repli : aucune nécessaire. Aucun outil n'est utilisé sur cette diapositive.
Transition : dites que la partie contexte est l'endroit où la plupart des invites échouent silencieusement, puis passez à S14.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lancez d'abord la version faible, Corrige la validation, et laissez la salle la regarder deviner. Lancez ensuite la version précise de S13 sur les mêmes fichiers.
Observation attendue : l'invite faible produit une modification plausible sur un sujet que personne n'a demandé. L'invite précise produit quelque chose qui peut être accepté ou refusé sur pièces.
Note de sécurité : ne joignez jamais un fichier d'environnement, un fichier d'identifiants ni du matériel client comme contexte. Ne joignez que les trois fichiers du projet d'exercice.
Solution de repli : si une seule invite peut être lancée, lancez la faible. Le contraste survit, car l'échec est le moment d'apprentissage.
Transition : dites que la salle rédige maintenant la sienne, puis passez à S15.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les participants rédigent la leur. La contrainte de proposition uniquement est impérative, donc chaque invite doit interdire la modification de fichiers et l'exécution de commandes.
Observation attendue : la plupart des premiers jets portent l'objectif et le contexte mais omettent les tests d'acceptation. Cette omission est le constat, pas un échec.
Note de sécurité : rien n'est exécuté pendant cette activité. Une invite qui modifierait un fichier ou lancerait une commande a déjà rompu la consigne.
Solution de repli : si Copilot est indisponible, l'activité se déroule intégralement. Elle se rédige et s'évalue sur papier et ne nécessite aucun outil.
Transition : l'évaluation en binôme est le premier élément de l'ordre des coupes publié. Si la section déborde, supprimez-la et passez directement à S16.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corrigez la version ambiguë en direct. Remplacez l'expression par la formulation en unités de code de S13 et montrez que seule la seconde version est relisible.
Observation attendue : la salle constate que la seconde tentative a réussi parce que la demande a changé, non parce que l'outil s'est amélioré.
Note de sécurité : ne décrivez pas cela comme une limite sur les caractères visibles ou sur les graphèmes. C'est une limite en unités de code, et les cas limites n'utilisent que de l'ASCII.
Solution de repli : aucune nécessaire. Cette correction peut se faire oralement face au texte projeté.
Transition : dites que la salle dispose maintenant d'une spécification relisible et qu'il lui faut une surface assez large pour l'appliquer, puis passez à S17.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soumettez la même demande de limite de titre à la surface ask puis à la surface agent, et placez les deux plans côte à côte.
Observation attendue : la surface ask décrit la modification, la surface agent propose de la réaliser. L'écart de devoir de relecture est visible avant qu'aucun fichier ne soit touché.
Note de sécurité : une surface plus large n'est pas une meilleure surface. Son périmètre d'impact est plus grand, elle exige donc une relecture plus lourde.
Solution de repli : si une seule surface répond, montrez l'image V05 préparée pour la comparaison et annoncez à voix haute qu'elle est enregistrée.
Transition : cette comparaison de plans est le troisième élément de l'ordre des coupes publié. Si le temps manque, supprimez-la et passez directement à S18.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nouvelle. Lisez le plan produit par l'agent en S17 et guidez la salle ligne par ligne dans la décision d'approbation.
Observation attendue : le plan nomme les trois fichiers autorisés. S'il en nomme un quatrième, refusez-le devant la salle. Un plan refusé est une démonstration réussie de cette diapositive, pas une démonstration ratée.
Note de sécurité : l'approbation est le point de contrôle. Une fois l'exécution d'un outil approuvée, la relecture passe de bon marché à coûteuse.
Solution de repli : s'il n'existe aucun plan en direct, examinez l'image V06 préparée et annoncez à voix haute qu'elle est enregistrée.
Transition : dites que le plan est maintenant relu et peut être appliqué, puis passez à S19.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reprise mot pour mot de l'invite d'atelier approuvée :
Dans ce projet d'exercice synthétique, ajoute une longueur maximale de titre de 80 unités de code UTF-16 JavaScript, mesurée après suppression des espaces de début et de fin. Modifie uniquement types.ts, validateGenerateRequest.ts et validateGenerateRequest.test.ts dans lib/scenario-engine/. Exporte MAX_TITLE_LENGTH depuis types.ts. Conserve les énumérations, les signatures publiques, les erreurs et l'ordre de validation existants. Place le nouveau contrôle après les contrôles d'énumération. Utilise l'erreur "Title must be at most 80 code units". Conserve chaque test existant et n'affaiblis, ne supprime et ne réécris aucune assertion existante. Ajoute des tests pour 80 unités, 81 unités et un titre de 80 unités entouré d'espaces, et écris ces bornes attendues sous forme de nombres littéraux plutôt qu'en référence à MAX_TITLE_LENGTH, afin que les tests échouent si la constante est incorrecte. N'installe aucun paquet, n'accède pas au réseau, ne lis aucun fichier d'environnement et ne génère aucun contenu étranger à ce projet d'exercice. Exécute les tests ciblés et la vérification de types préparés. Présente le diff et les résultats réels.
Observation attendue : avec les trois cas limites ajoutés et la règle non encore implémentée, le résultat observé sur la machine préparée était de 27 cas, 26 réussites, 1 échec, code de sortie 1. Après implémentation de la règle, il était de 27 cas, 27 réussites, code de sortie 0. Les 24 cas de référence étaient inchangés dans les deux états.
Note de sécurité : les deux clauses portant sur la conservation de chaque test existant et sur l'écriture des bornes sous forme de nombres littéraux sont déterminantes. Ne raccourcissez pas l'invite en les retirant. Sans elles, un agent peut déduire ses attentes de la nouvelle constante, la suite passe alors au vert pour n'importe quelle valeur de limite, et les éléments de preuve de la relecture en S20 s'effondrent.
Solution de repli : si l'exécution de l'agent ne peut pas être menée en direct, montrez l'image V03 préparée ainsi que les sorties enregistrées avant et après, et annoncez à voix haute qu'elles sont enregistrées.
Transition : dites que l'exécution est terminée mais que le travail ne l'est pas, puis passez à S20.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Il s'agit d'une relecture humaine de ce que S19 a produit, et cette relecture est tout l'objet de la diapositive.
Observation attendue : le diff touche exactement les trois fichiers autorisés, les cas de référence passent toujours, et les nouveaux cas utilisent des nombres littéraux. Demandez à la salle de nommer une chose à modifier dans le diff généré, et prenez deux réponses.
Note de sécurité : cette démonstration n'est jamais supprimée, quel que soit le dépassement. C'est le seul endroit où l'objectif de relecture responsable est démontré face à une production réelle. Coupez ailleurs d'abord.
Solution de repli : si rien n'a été généré en direct, examinez le diff enregistré et la sortie de tests enregistrée, annoncez à voix haute qu'ils sont enregistrés et signalez-les comme enregistrés à l'écran. La discussion de relecture se déroule sans changement.
Transition : dites que la reprise passe ici par un script de réinitialisation plutôt que par une dispute avec l'outil, puis passez à S21.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Distribuez ou ouvrez le formulaire de billet de sortie et laissez à la salle les deux minutes complètes pour écrire.
Observation attendue : chaque participant consigne une tâche délimitée pour le lendemain et l'étape de vérification associée. Une tâche sans vérification est renvoyée, car la vérification est l'objectif.
Note de sécurité : recueillez les billets de sortie sur le formulaire préparé afin que les réponses soient conservées. Ne les recueillez pas sur un écran partagé où les réponses des autres seraient visibles.
Solution de repli : si le formulaire est indisponible, des fiches papier font l'affaire et se recueillent à la porte.
Transition : passez à S22 et prenez les questions avec les ressources déjà affichées.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à utiliser : aucune.
Observation attendue : les questions se concentrent sur les droits d'accès, sur le code privé et sur le devoir de relecture. Répondez aux deux premières en renvoyant à la page des ressources plutôt qu'en spéculant.
Note de sécurité : si une question porte sur l'utilisation de cet outil avec du matériel client ou réglementé, dites que cela sort du périmètre de cette séance et qu'il s'agit d'une décision de traitement des données dont la responsabilité relève d'ailleurs. N'improvisez pas une réponse de politique interne.
Solution de repli : si la séance déborde, concluez sur la phrase du billet de sortie et prenez les questions restantes après l'heure de fin prévue.
Transition : terminez ici. La séance est finie à la minute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600" b="1" dirty="0">
                <a:solidFill>
                  <a:srgbClr val="202428"/>
                </a:solidFill>
                <a:latin typeface="Aptos Display" pitchFamily="34" charset="0"/>
                <a:ea typeface="Aptos Display" pitchFamily="34" charset="-122"/>
                <a:cs typeface="Aptos Display" pitchFamily="34" charset="-120"/>
              </a:rPr>
              <a:t>Les fondamentaux de GitHub Copilot</a:t>
            </a:r>
            <a:endParaRPr lang="en-US" sz="3600" dirty="0"/>
          </a:p>
        </p:txBody>
      </p:sp>
      <p:sp>
        <p:nvSpPr>
          <p:cNvPr id="3" name="Text 1"/>
          <p:cNvSpPr/>
          <p:nvPr/>
        </p:nvSpPr>
        <p:spPr>
          <a:xfrm>
            <a:off x="548640" y="1645920"/>
            <a:ext cx="11091672" cy="237744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Profil 1, animé par un présentateur, 90 minutes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Six sections : 15, 15, 25, 15, 15 et 5 minutes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Chaque démonstration s'appuie sur un seul petit validateur synthétique de demandes de contenu</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Aucun code client, aucun système de production, aucun domaine réglementé</a:t>
            </a:r>
            <a:endParaRPr lang="en-US" sz="2400" dirty="0"/>
          </a:p>
        </p:txBody>
      </p:sp>
      <p:sp>
        <p:nvSpPr>
          <p:cNvPr id="4" name="Text 2"/>
          <p:cNvSpPr/>
          <p:nvPr/>
        </p:nvSpPr>
        <p:spPr>
          <a:xfrm>
            <a:off x="548640" y="4297680"/>
            <a:ext cx="11091672" cy="1554480"/>
          </a:xfrm>
          <a:prstGeom prst="rect">
            <a:avLst/>
          </a:prstGeom>
          <a:noFill/>
          <a:ln/>
        </p:spPr>
        <p:txBody>
          <a:bodyPr wrap="square" rtlCol="0" anchor="t"/>
          <a:lstStyle/>
          <a:p>
            <a:pPr indent="0" marL="0">
              <a:buNone/>
            </a:pPr>
            <a:r>
              <a:rPr lang="en-US" sz="1400" b="1" dirty="0">
                <a:solidFill>
                  <a:srgbClr val="202428"/>
                </a:solidFill>
                <a:latin typeface="Aptos" pitchFamily="34" charset="0"/>
                <a:ea typeface="Aptos" pitchFamily="34" charset="-122"/>
                <a:cs typeface="Aptos" pitchFamily="34" charset="-120"/>
              </a:rPr>
              <a:t>Ressource éducative indépendante</a:t>
            </a:r>
            <a:endParaRPr lang="en-US" sz="1400" dirty="0"/>
          </a:p>
          <a:p>
            <a:pPr indent="0" marL="0">
              <a:buNone/>
            </a:pPr>
            <a:r>
              <a:rPr lang="en-US" sz="1400" dirty="0">
                <a:solidFill>
                  <a:srgbClr val="202428"/>
                </a:solidFill>
                <a:latin typeface="Aptos" pitchFamily="34" charset="0"/>
                <a:ea typeface="Aptos" pitchFamily="34" charset="-122"/>
                <a:cs typeface="Aptos" pitchFamily="34" charset="-120"/>
              </a:rPr>
              <a:t>Cet atelier est une ressource éducative indépendante. Il n'est ni affilié à GitHub ou Microsoft, ni approuvé ou parrainé par ces sociétés. Tous les noms de produits et toutes les marques de commerce appartiennent à leurs propriétaires respectifs.</a:t>
            </a:r>
            <a:endParaRPr lang="en-US" sz="1400" dirty="0"/>
          </a:p>
        </p:txBody>
      </p:sp>
      <p:sp>
        <p:nvSpPr>
          <p:cNvPr id="5" name="Text 3"/>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S01 | 00-03 min | Section 1 | FR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Ce que Copilot fait réellement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Propose du code en ligne, pendant que vous écrivez</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Répond à des questions sur du code que vous n'avez pas écrit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Rédige des tests, de la documentation et des résumés de modifications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Planifie et applique des modifications sur plusieurs fichiers, que vous relisez avant de les conserver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Il rédige un brouillon. C'est vous qui décidez de ce qui est conservé.</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S02 | 03-07 min | Section 1 | FR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Chat, complétions et mode agent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Complétions : en ligne et les plus rapides. Idéales pour la ligne suivante ou l'assertion suivante.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Chat : une question et une réponse. Idéal pour expliquer et pour proposer.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Mode agent : un plan, puis des modifications sur plusieurs fichiers, puis une relecture que vous effectuez.</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Aujourd'hui, vous choisissez une surface trois fois : pour expliquer, pour compléter une assertion et pour réaliser une modification sur trois fichiers.</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S03 | 07-11 min | Section 1 | FR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Six idées reçues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1. Ce n'est qu'une autocomplétion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2. Il remplace les développeurs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3. Le code généré est toujours correct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4. Il n'est utile que pour écrire du code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5. Il faut être spécialiste de l'IA pour en tirer parti</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6. Il dispense de comprendre son propre code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S04 | 11-15 min | Section 1 | FR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Prêts à travailler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À l'écran : un projet TypeScript local préparé dans l'éditeur, et non une application web</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Trois fichiers sous lib/scenario-engine/ : types.ts, validateGenerateRequest.ts, validateGenerateRequest.test.ts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La connexion et les dépendances sont vérifiées avant la séance, jamais pendant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Rien n'est installé sous vos yeux</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S05 | 15-18 min | Section 2 | FR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Fournir le bon contexte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Joignez validateGenerateRequest.ts et types.ts avant de poser la moindre question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 validateur accepte une entrée inconnue et renvoie une union succès ou erreur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 texte libre est débarrassé de ses espaces de début et de fin. L'appartenance à une énumération est exacte et sensible à la casse.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champs facultatifs omis restent undefined. Le validateur ne substitue jamais de valeur par défaut.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S06 | 18-22 min | Section 2 | FR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Activité A : expliquer et compléter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Minute 1 : demandez au chat d'expliquer validateGenerateRequest, sans aucune modification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2 à 4 : acceptez une complétion en ligne pour une assertion de titre normalisé, puis relisez-la à voix haute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5 à 6 : sur papier, écrivez l'unique question que vous poseriez sur le type de résultat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Comparez votre question avec celle de votre voisin</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S07 | 22-28 min | Section 2 | FR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Inspecter avant d'accepter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Lisez l'assertion complétée à voix haute avant de l'accepter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Une suggestion qui compile n'est pas une suggestion correcte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Référence observée sur la machine préparée : 24 cas, 24 réussites, code de sortie 0</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décomptes sont observés, non garantis. Un décompte différent n'est pas un échec.</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S08 | 28-30 min | Section 2 | FR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Suivre une demande de validation</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Un objet de demande synthétique entre dans validateGenerateRequest, dans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L'étape 1 rejette tout ce qui n'est pas un objet simple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L'étape 2 rejette les champs obligatoires vides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L'étape 3 vérifie la catégorie obligatoire face à son énumération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L'étape 5 supprime les espaces du texte libre et renvoie un succès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Aucune interface, aucun réseau, aucun fournisseur, aucun fichier d'environnement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S09 | 30-34 min | Section 3 | FR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De l'échec à la preuve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La garde privée porte une anomalie introduite : un contrôle de longueur seule, qui perd la suppression des espaces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Observé sous l'anomalie : 24 cas, 19 réussites, 5 échecs, code de sortie 1</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Lisez les noms des cinq cas en échec avant de modifier la moindre ligne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Renommez ensuite les gardes privées pour la lisibilité, sans toucher aux prédicats, aux messages ni à l'ordre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Aucun test de validateGenerateRequest.test.ts n'est affaibli pour faire passer la suite au vert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S10 | 34-39 min | Section 3 | FR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Activité B : corriger et vérifier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Avant l'exécution : notez combien des 24 cas vous vous attendez à voir échouer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1 à 2 : reproduisez l'anomalie et lisez les noms des cinq cas en échec</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3 à 6 : localisez la garde privée dans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7 à 9 : rétablissez le rejet des valeurs composées uniquement d'espaces, puis relancez</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10 à 12 : remaniez la garde pour la lisibilité, relancez, puis confrontez le résumé des modifications au diff</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N'atteignez jamais le vert en affaiblissant une assertion de validateGenerateRequest.test.ts</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S11 | 39-51 min | Section 3 | FR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Expliquer la modification</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Demandez un résumé des modifications, puis vérifiez chacune de ses affirmations face au diff</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Un résumé qui nomme un fichier que vous n'avez pas touché est faux, aussi fluide soit-il</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Vrai ici : suppression des espaces rétablie, gardes privées renommées, comportement inchangé</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Régénérez le commentaire de documentation en dernier, une fois le comportement stabilisé</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S12 | 51-55 min | Section 3 | FR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Une invite au résultat vérifiable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Quatre parties : objectif, contexte, contraintes, tests d'acceptation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Objectif : rejeter les titres plus longs que la limite, mesurés après suppression des espaces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Contexte : les trois fichiers nommés et l'ordre de validation existant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Contraintes : mesurer des unités de code UTF-16, et non des caractères visibles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Tests d'acceptation : 80 unités acceptées, 81 unités refusées, un titre de 80 unités entouré d'espaces accepté</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S13 | 55-59 min | Section 4 | FR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Le contexte fournit les éléments de preuve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Corrige la validation n'est pas une invite. Cela ne nomme ni fichier, ni règle, ni test.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Joignez le validateur, les types et les tests existants. Rien d'autre.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Joindre davantage n'est pas joindre mieux</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éléments que vous joignez sont ceux qu'un relecteur peut vérifier</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S14 | 59-62 min | Section 4 | FR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Activité C : préciser la limite du titre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Rédigez une invite qui demande une proposition uniquement. Aucune modification. Aucune commande.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Elle doit nommer MAX_TITLE_LENGTH = 80, le placement après les contrôles d'énumération, et l'erreur exacte "Title must be at most 80 code units"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Elle doit nommer les trois fichiers autorisés et les trois cas limites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Évaluez ensuite l'invite d'un binôme avec la grille en quatre parties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Elle est réussie quand votre binôme peut reformuler le comportement attendu à partir de la seule invite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S15 | 62-68 min | Section 4 | FR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Itérer avec une raison</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L'expression 80 caractères est ambiguë. Octets, points de code et caractères visibles diffèrent tous.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Dites unités de code UTF-16, mesurées après suppression des espaces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Énoncez clairement que l'on compte des unités de code, et non des caractères visibles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entrées accentuées et les émojis sont donc hors du périmètre de ce test de limite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Itérez parce que l'invite était ambiguë, non parce que la réponse était décevante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S16 | 68-70 min | Section 4 | FR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Ask, Edit et Agent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Ask : une question, une réponse, aucune modification de fichier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Edit : une modification délimitée aux fichiers que vous avez choisis vous-même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Agent : un plan, puis des modifications sur plusieurs fichiers, puis une relecture que vous devez effectuer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Choisissez la plus petite surface capable de faire le travail</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Comparez les plans à l'écran, puis choisissez-en un et dites pourquoi</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S17 | 70-73 min | Section 5 | FR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Examiner le plan et les autorisations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Lisez le plan avant de l'approuver : quels fichiers, dans quel ordre, avec quel texte d'erreur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 périmètre autorisé est de trois fichiers. Tout ce qui en sort est un arrêt, pas un avertissement.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Aucune installation de paquet, aucun accès réseau, aucun fichier d'environnement, aucun contenu de domaine réglementé</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N'approuvez l'exécution d'un outil que lorsque le plan correspond à ce que vous avez réellement demandé</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S18 | 73-76 min | Section 5 | FR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Activité D : implémenter la limite du titre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Avant l'exécution, notez les deux fichiers que vous inspecteriez en premier, et pourquoi</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Exportez MAX_TITLE_LENGTH = 80 depuis types.ts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Ajoutez le contrôle après les contrôles d'énumération dans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Ajoutez exactement trois cas limites à validateGenerateRequest.test.ts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Erreur exacte : "Title must be at most 80 code units"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bornes attendues sont des nombres littéraux, jamais la nouvelle constante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S19 | 76-81 min | Section 5 | FR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Relire, tester, restaurer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Inspectez le diff fichier par fichier. Trois fichiers, pas un de plus.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Observé avant implémentation : 27 cas, 26 réussites, 1 échec, code de sortie 1</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Observé après implémentation : 27 cas, 27 réussites, code de sortie 0</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24 cas de référence étaient inchangés dans les deux états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bornes attendues dans validateGenerateRequest.test.ts sont des nombres littéraux, donc une constante erronée échoue quand même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Acceptez, refusez ou révisez. La reprise est une réinitialisation, pas une réécriture.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S20 | 81-85 min | Section 5 | FR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Ce que vous emportez</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Il rédige un brouillon. Vous décidez.</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Choisissez la surface : ask pour comprendre, edit pour modifier, agent pour couvrir plusieurs fichiers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Une invite sans tests d'acceptation est un souhait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Les éléments de preuve sont le diff et la sortie réelle des tests, pas le résumé</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Billet de sortie : nommez une tâche délimitée pour demain et la façon dont vous la vérifierez</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S21 | 85-87 min | Section 6 | FR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Prochaines étapes et questions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Emportez votre billet de sortie : une tâche, une vérification, demain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Le site de l'atelier porte l'horaire, chaque invite et la liste des ressources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Chaque page est disponible en anglais et en français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Questions</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S22 | 87-90 min | Section 6 | FR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Independent educational resource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Fundamentals (fr)</dc:title>
  <dc:subject>Atelier de 90 minutes sur les fondamentaux de GitHub Copilot, animé par un présentateur, français</dc:subject>
  <dc:creator>GitHub Copilot Fundamentals Workshop</dc:creator>
  <cp:lastModifiedBy>GitHub Copilot Fundamentals Workshop</cp:lastModifiedBy>
  <cp:revision>1</cp:revision>
  <dcterms:created xsi:type="dcterms:W3CDTF">2026-09-22T11:58:06Z</dcterms:created>
  <dcterms:modified xsi:type="dcterms:W3CDTF">2026-09-22T11:58:06Z</dcterms:modified>
</cp:coreProperties>
</file>